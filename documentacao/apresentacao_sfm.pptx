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50800"/>
          </a:xfrm>
          <a:prstGeom prst="rect">
            <a:avLst/>
          </a:prstGeom>
          <a:solidFill>
            <a:srgbClr val="E8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0" b="1">
                <a:solidFill>
                  <a:srgbClr val="FFFFFF"/>
                </a:solidFill>
                <a:latin typeface="Calibri"/>
              </a:rPr>
              <a:t>SFM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E8752C"/>
                </a:solidFill>
                <a:latin typeface="Calibri"/>
              </a:rPr>
              <a:t>Shop Floor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C9D8E8"/>
                </a:solidFill>
                <a:latin typeface="Calibri"/>
              </a:rPr>
              <a:t>Passagem de turno e painel SQDC — visão geral do projeto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4476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Documento de apresentação  |  Versão 1.0  |  18/09/2026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752C"/>
                </a:solidFill>
                <a:latin typeface="Calibri"/>
              </a:rPr>
              <a:t>SFM — VISÃO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A89"/>
                </a:solidFill>
                <a:latin typeface="Calibri"/>
              </a:rPr>
              <a:t>SFM — Shop Floor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A89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900">
                <a:solidFill>
                  <a:srgbClr val="26313D"/>
                </a:solidFill>
                <a:latin typeface="Calibri"/>
              </a:rPr>
              <a:t>•  O problema e o objetivo do projeto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900">
                <a:solidFill>
                  <a:srgbClr val="26313D"/>
                </a:solidFill>
                <a:latin typeface="Calibri"/>
              </a:rPr>
              <a:t>•  Escopo: o que está dentro e fora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900">
                <a:solidFill>
                  <a:srgbClr val="26313D"/>
                </a:solidFill>
                <a:latin typeface="Calibri"/>
              </a:rPr>
              <a:t>•  Como era antes x como é hoje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900">
                <a:solidFill>
                  <a:srgbClr val="26313D"/>
                </a:solidFill>
                <a:latin typeface="Calibri"/>
              </a:rPr>
              <a:t>•  Módulos e papéis de usuário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900">
                <a:solidFill>
                  <a:srgbClr val="26313D"/>
                </a:solidFill>
                <a:latin typeface="Calibri"/>
              </a:rPr>
              <a:t>•  Regras de negócio essenciais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900">
                <a:solidFill>
                  <a:srgbClr val="26313D"/>
                </a:solidFill>
                <a:latin typeface="Calibri"/>
              </a:rPr>
              <a:t>•  Modelo de dados (resumo)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900">
                <a:solidFill>
                  <a:srgbClr val="26313D"/>
                </a:solidFill>
                <a:latin typeface="Calibri"/>
              </a:rPr>
              <a:t>•  Segurança e limitações conhecidas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900">
                <a:solidFill>
                  <a:srgbClr val="26313D"/>
                </a:solidFill>
                <a:latin typeface="Calibri"/>
              </a:rPr>
              <a:t>•  Riscos e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752C"/>
                </a:solidFill>
                <a:latin typeface="Calibri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O problema que o SFM resolve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A89"/>
                </a:solidFill>
                <a:latin typeface="Calibri"/>
              </a:rPr>
              <a:t>SFM — Shop Floor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A89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2E4F"/>
                </a:solidFill>
                <a:latin typeface="Calibri"/>
              </a:rPr>
              <a:t>•  Informação dispersa</a:t>
            </a:r>
            <a:r>
              <a:rPr sz="1700">
                <a:solidFill>
                  <a:srgbClr val="26313D"/>
                </a:solidFill>
                <a:latin typeface="Calibri"/>
              </a:rPr>
              <a:t> — máquina parada e o que já foi tentado ficam registrados em papel, conversa ou memória do operador, sem histórico entre turnos.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2E4F"/>
                </a:solidFill>
                <a:latin typeface="Calibri"/>
              </a:rPr>
              <a:t>•  Indicadores manuais</a:t>
            </a:r>
            <a:r>
              <a:rPr sz="1700">
                <a:solidFill>
                  <a:srgbClr val="26313D"/>
                </a:solidFill>
                <a:latin typeface="Calibri"/>
              </a:rPr>
              <a:t> — "corretivas atendidas" e "quebras graves" eram calculados olhando a planilha do SAP linha por linha.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2E4F"/>
                </a:solidFill>
                <a:latin typeface="Calibri"/>
              </a:rPr>
              <a:t>•  Quadro físico sem histórico</a:t>
            </a:r>
            <a:r>
              <a:rPr sz="1700">
                <a:solidFill>
                  <a:srgbClr val="26313D"/>
                </a:solidFill>
                <a:latin typeface="Calibri"/>
              </a:rPr>
              <a:t> — o quadro SQDC pendurado no setor não tinha versão digital nem histórico consultável por dia.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2E4F"/>
                </a:solidFill>
                <a:latin typeface="Calibri"/>
              </a:rPr>
              <a:t>•  Sem rastreabilidade</a:t>
            </a:r>
            <a:r>
              <a:rPr sz="1700">
                <a:solidFill>
                  <a:srgbClr val="26313D"/>
                </a:solidFill>
                <a:latin typeface="Calibri"/>
              </a:rPr>
              <a:t> — não havia registro de quem passou e quem recebeu cada máquina, nem de quanto tempo ela ficou parada de fato.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752C"/>
                </a:solidFill>
                <a:latin typeface="Calibri"/>
              </a:rPr>
              <a:t>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Objetivo geral do SFM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A89"/>
                </a:solidFill>
                <a:latin typeface="Calibri"/>
              </a:rPr>
              <a:t>SFM — Shop Floor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A89"/>
                </a:solidFill>
                <a:latin typeface="Calibri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37360"/>
            <a:ext cx="10149840" cy="146304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737360"/>
            <a:ext cx="76200" cy="1463040"/>
          </a:xfrm>
          <a:prstGeom prst="rect">
            <a:avLst/>
          </a:prstGeom>
          <a:solidFill>
            <a:srgbClr val="E8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874519"/>
            <a:ext cx="94183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B2E4F"/>
                </a:solidFill>
                <a:latin typeface="Calibri"/>
              </a:rPr>
              <a:t>Centralizar e padronizar o controle de passagem de turno das máquinas paradas e o acompanhamento diário do quadro SQDC por setor, eliminando cálculo manual de indicadores e dando rastreabilidade completa a cada parada e a cada passagem entre turnos.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657600"/>
            <a:ext cx="2423160" cy="173736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3657600"/>
            <a:ext cx="2423160" cy="50800"/>
          </a:xfrm>
          <a:prstGeom prst="rect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67328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0B5CAB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892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26313D"/>
                </a:solidFill>
                <a:latin typeface="Calibri"/>
              </a:rPr>
              <a:t>Servidor externo
(app 100% local)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1880" y="3657600"/>
            <a:ext cx="2423160" cy="173736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3657600"/>
            <a:ext cx="2423160" cy="50800"/>
          </a:xfrm>
          <a:prstGeom prst="rect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3767328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0B5CAB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892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26313D"/>
                </a:solidFill>
                <a:latin typeface="Calibri"/>
              </a:rPr>
              <a:t>Setores cobertos
Gasolina, Diesel,
Controle, Biela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2423160" cy="173736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657600"/>
            <a:ext cx="2423160" cy="50800"/>
          </a:xfrm>
          <a:prstGeom prst="rect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767328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0B5CAB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892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26313D"/>
                </a:solidFill>
                <a:latin typeface="Calibri"/>
              </a:rPr>
              <a:t>Turnos monitorados
Manhã, Tarde, Noite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23960" y="3657600"/>
            <a:ext cx="2423160" cy="173736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23960" y="3657600"/>
            <a:ext cx="2423160" cy="50800"/>
          </a:xfrm>
          <a:prstGeom prst="rect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400" y="3767328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0B5CAB"/>
                </a:solidFill>
                <a:latin typeface="Calibri"/>
              </a:rPr>
              <a:t>S Q D 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4892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26313D"/>
                </a:solidFill>
                <a:latin typeface="Calibri"/>
              </a:rPr>
              <a:t>Blocos do quadro
de indicadores diário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752C"/>
                </a:solidFill>
                <a:latin typeface="Calibri"/>
              </a:rPr>
              <a:t>ESCOPO DO PRODUTO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O que está dentro e fora do escopo atual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A89"/>
                </a:solidFill>
                <a:latin typeface="Calibri"/>
              </a:rPr>
              <a:t>SFM — Shop Floor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A89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B5CAB"/>
                </a:solidFill>
                <a:latin typeface="Calibri"/>
              </a:rPr>
              <a:t>Dentro do escopo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26313D"/>
                </a:solidFill>
                <a:latin typeface="Calibri"/>
              </a:rPr>
              <a:t>•  Login local e controle de papel/setor/turno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26313D"/>
                </a:solidFill>
                <a:latin typeface="Calibri"/>
              </a:rPr>
              <a:t>•  Passagem e recebimento de turno (ciclo completo)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26313D"/>
                </a:solidFill>
                <a:latin typeface="Calibri"/>
              </a:rPr>
              <a:t>•  Importação da planilha do SAP com deduplicação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26313D"/>
                </a:solidFill>
                <a:latin typeface="Calibri"/>
              </a:rPr>
              <a:t>•  Quadro SQDC por setor, com D e C automáticos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26313D"/>
                </a:solidFill>
                <a:latin typeface="Calibri"/>
              </a:rPr>
              <a:t>•  Relatórios consolidados para gestor/admin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26313D"/>
                </a:solidFill>
                <a:latin typeface="Calibri"/>
              </a:rPr>
              <a:t>•  Administração de usuários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8752C"/>
                </a:solidFill>
                <a:latin typeface="Calibri"/>
              </a:rPr>
              <a:t>Fora do escopo atual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26313D"/>
                </a:solidFill>
                <a:latin typeface="Calibri"/>
              </a:rPr>
              <a:t>✕  Servidor, nuvem ou autenticação corporativa (SSO)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26313D"/>
                </a:solidFill>
                <a:latin typeface="Calibri"/>
              </a:rPr>
              <a:t>✕  Aplicativo mobile dedicado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26313D"/>
                </a:solidFill>
                <a:latin typeface="Calibri"/>
              </a:rPr>
              <a:t>✕  Integração automática/API com o SAP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26313D"/>
                </a:solidFill>
                <a:latin typeface="Calibri"/>
              </a:rPr>
              <a:t>✕  Fonte automática de dados de Segurança/Qualidade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26313D"/>
                </a:solidFill>
                <a:latin typeface="Calibri"/>
              </a:rPr>
              <a:t>✕  Criptografia de dados em repouso e auditoria formal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752C"/>
                </a:solidFill>
                <a:latin typeface="Calibri"/>
              </a:rPr>
              <a:t>PROCESSO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Como era antes × como é com o SFM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A89"/>
                </a:solidFill>
                <a:latin typeface="Calibri"/>
              </a:rPr>
              <a:t>SFM — Shop Floor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A89"/>
                </a:solidFill>
                <a:latin typeface="Calibr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5212080" cy="4846320"/>
          </a:xfrm>
          <a:prstGeom prst="rect">
            <a:avLst/>
          </a:prstGeom>
          <a:solidFill>
            <a:srgbClr val="F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5212080" cy="548640"/>
          </a:xfrm>
          <a:prstGeom prst="rect">
            <a:avLst/>
          </a:prstGeom>
          <a:solidFill>
            <a:srgbClr val="6B7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Antes (AS IS)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26313D"/>
                </a:solidFill>
                <a:latin typeface="Calibri"/>
              </a:rPr>
              <a:t>•  Comunicação verbal ou anotação entre turnos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26313D"/>
                </a:solidFill>
                <a:latin typeface="Calibri"/>
              </a:rPr>
              <a:t>•  Sem registro estruturado de início de parada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26313D"/>
                </a:solidFill>
                <a:latin typeface="Calibri"/>
              </a:rPr>
              <a:t>•  Cálculo manual de indicadores olhando o SAP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26313D"/>
                </a:solidFill>
                <a:latin typeface="Calibri"/>
              </a:rPr>
              <a:t>•  Quadro SQDC só em papel, sem histórico digital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12080" cy="484632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212080" cy="548640"/>
          </a:xfrm>
          <a:prstGeom prst="rect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Depois (TO BE — implementado)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4884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26313D"/>
                </a:solidFill>
                <a:latin typeface="Calibri"/>
              </a:rPr>
              <a:t>•  Sistema redireciona obrigatoriamente para receber/passar turno na janela certa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26313D"/>
                </a:solidFill>
                <a:latin typeface="Calibri"/>
              </a:rPr>
              <a:t>•  Cada parada tem início, status e responsável registrados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26313D"/>
                </a:solidFill>
                <a:latin typeface="Calibri"/>
              </a:rPr>
              <a:t>•  D e C do SQDC calculados automaticamente pela planilha do SAP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26313D"/>
                </a:solidFill>
                <a:latin typeface="Calibri"/>
              </a:rPr>
              <a:t>•  Quadro SQDC digital, por dia, com impressão e histórico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752C"/>
                </a:solidFill>
                <a:latin typeface="Calibri"/>
              </a:rPr>
              <a:t>PROCESSO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Ciclo de vida de uma máquina parada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A89"/>
                </a:solidFill>
                <a:latin typeface="Calibri"/>
              </a:rPr>
              <a:t>SFM — Shop Floor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A89"/>
                </a:solidFill>
                <a:latin typeface="Calibr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77440"/>
            <a:ext cx="2743200" cy="1188720"/>
          </a:xfrm>
          <a:prstGeom prst="rect">
            <a:avLst/>
          </a:prstGeom>
          <a:solidFill>
            <a:srgbClr val="E8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614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ABERTA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69748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>
                <a:solidFill>
                  <a:srgbClr val="26313D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377440"/>
            <a:ext cx="2743200" cy="1188720"/>
          </a:xfrm>
          <a:prstGeom prst="rect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7614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RECEBIDA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69748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>
                <a:solidFill>
                  <a:srgbClr val="26313D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2377440"/>
            <a:ext cx="2743200" cy="118872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27614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FINALIZADA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703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6B7A89"/>
                </a:solidFill>
                <a:latin typeface="Calibri"/>
              </a:rPr>
              <a:t>"Continuar parada" volta para ABERTA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976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0B2E4F"/>
                </a:solidFill>
                <a:latin typeface="Calibri"/>
              </a:rPr>
              <a:t>•  Uma única linha por máquina</a:t>
            </a:r>
            <a:r>
              <a:rPr sz="1500">
                <a:solidFill>
                  <a:srgbClr val="26313D"/>
                </a:solidFill>
                <a:latin typeface="Calibri"/>
              </a:rPr>
              <a:t> — não se cria um novo registro a cada troca de turno (RN-01).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0B2E4F"/>
                </a:solidFill>
                <a:latin typeface="Calibri"/>
              </a:rPr>
              <a:t>•  Tempo parado</a:t>
            </a:r>
            <a:r>
              <a:rPr sz="1500">
                <a:solidFill>
                  <a:srgbClr val="26313D"/>
                </a:solidFill>
                <a:latin typeface="Calibri"/>
              </a:rPr>
              <a:t> — diferença entre o início real da parada e o momento da finalização — o "relógio" nunca reinicia ao repassar (RN-02).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0B2E4F"/>
                </a:solidFill>
                <a:latin typeface="Calibri"/>
              </a:rPr>
              <a:t>•  Quebra grave</a:t>
            </a:r>
            <a:r>
              <a:rPr sz="1500">
                <a:solidFill>
                  <a:srgbClr val="26313D"/>
                </a:solidFill>
                <a:latin typeface="Calibri"/>
              </a:rPr>
              <a:t> — toda ordem finalizada com 10h ou mais de parada entra no indicador de Custo (C) e no Top problemas do dia (RN-03).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752C"/>
                </a:solidFill>
                <a:latin typeface="Calibri"/>
              </a:rPr>
              <a:t>ARQUITETURA FUNCIONAL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Módulos do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A89"/>
                </a:solidFill>
                <a:latin typeface="Calibri"/>
              </a:rPr>
              <a:t>SFM — Shop Floor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A89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71600"/>
          <a:ext cx="10698478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3665"/>
                <a:gridCol w="2781604"/>
                <a:gridCol w="5563209"/>
              </a:tblGrid>
              <a:tr h="617220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</a:rPr>
                        <a:t>Módulo</a:t>
                      </a:r>
                    </a:p>
                  </a:txBody>
                  <a:tcPr marT="50800" marB="50800" marL="76200" marR="76200">
                    <a:solidFill>
                      <a:srgbClr val="0B5CA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</a:rPr>
                        <a:t>Tela</a:t>
                      </a:r>
                    </a:p>
                  </a:txBody>
                  <a:tcPr marT="50800" marB="50800" marL="76200" marR="76200">
                    <a:solidFill>
                      <a:srgbClr val="0B5CA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</a:rPr>
                        <a:t>Finalidade</a:t>
                      </a:r>
                    </a:p>
                  </a:txBody>
                  <a:tcPr marT="50800" marB="50800" marL="76200" marR="76200">
                    <a:solidFill>
                      <a:srgbClr val="0B5CA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Autenticação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login.html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Login local por usuário/senha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Menu</a:t>
                      </a:r>
                    </a:p>
                  </a:txBody>
                  <a:tcPr marT="38100" marB="38100" marL="76200" marR="76200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menu.html</a:t>
                      </a:r>
                    </a:p>
                  </a:txBody>
                  <a:tcPr marT="38100" marB="38100" marL="76200" marR="76200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Escolha de setor e da ação</a:t>
                      </a:r>
                    </a:p>
                  </a:txBody>
                  <a:tcPr marT="38100" marB="38100" marL="76200" marR="76200">
                    <a:solidFill>
                      <a:srgbClr val="EAF2F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Passar turno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passar-turno.html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Importa SAP e registra paradas novas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Receber turno</a:t>
                      </a:r>
                    </a:p>
                  </a:txBody>
                  <a:tcPr marT="38100" marB="38100" marL="76200" marR="76200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receber-turno.html</a:t>
                      </a:r>
                    </a:p>
                  </a:txBody>
                  <a:tcPr marT="38100" marB="38100" marL="76200" marR="76200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Recebe em lote as passagens do setor</a:t>
                      </a:r>
                    </a:p>
                  </a:txBody>
                  <a:tcPr marT="38100" marB="38100" marL="76200" marR="76200">
                    <a:solidFill>
                      <a:srgbClr val="EAF2F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Quadro SQDC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quadro-sfm.html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Folha SQDC do mês, por setor e dia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Relatórios</a:t>
                      </a:r>
                    </a:p>
                  </a:txBody>
                  <a:tcPr marT="38100" marB="38100" marL="76200" marR="76200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relatorios.html</a:t>
                      </a:r>
                    </a:p>
                  </a:txBody>
                  <a:tcPr marT="38100" marB="38100" marL="76200" marR="76200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Visão consolidada de todos os setores</a:t>
                      </a:r>
                    </a:p>
                  </a:txBody>
                  <a:tcPr marT="38100" marB="38100" marL="76200" marR="76200">
                    <a:solidFill>
                      <a:srgbClr val="EAF2F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Administração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admin.html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Cadastro de usuários (só admin)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752C"/>
                </a:solidFill>
                <a:latin typeface="Calibri"/>
              </a:rPr>
              <a:t>PERFIS DE ACESSO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Quem faz o quê no SFM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A89"/>
                </a:solidFill>
                <a:latin typeface="Calibri"/>
              </a:rPr>
              <a:t>SFM — Shop Floor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A89"/>
                </a:solidFill>
                <a:latin typeface="Calibri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463040"/>
          <a:ext cx="10698478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4888"/>
                <a:gridCol w="5590196"/>
                <a:gridCol w="3373394"/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b="1" sz="1450">
                          <a:solidFill>
                            <a:srgbClr val="FFFFFF"/>
                          </a:solidFill>
                        </a:rPr>
                        <a:t>Perfil</a:t>
                      </a:r>
                    </a:p>
                  </a:txBody>
                  <a:tcPr marT="50800" marB="50800" marL="76200" marR="76200">
                    <a:solidFill>
                      <a:srgbClr val="0B5CA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50">
                          <a:solidFill>
                            <a:srgbClr val="FFFFFF"/>
                          </a:solidFill>
                        </a:rPr>
                        <a:t>Pode fazer</a:t>
                      </a:r>
                    </a:p>
                  </a:txBody>
                  <a:tcPr marT="50800" marB="50800" marL="76200" marR="76200">
                    <a:solidFill>
                      <a:srgbClr val="0B5CA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50">
                          <a:solidFill>
                            <a:srgbClr val="FFFFFF"/>
                          </a:solidFill>
                        </a:rPr>
                        <a:t>Restrição principal</a:t>
                      </a:r>
                    </a:p>
                  </a:txBody>
                  <a:tcPr marT="50800" marB="50800" marL="76200" marR="76200">
                    <a:solidFill>
                      <a:srgbClr val="0B5CA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26313D"/>
                          </a:solidFill>
                        </a:rPr>
                        <a:t>Operador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26313D"/>
                          </a:solidFill>
                        </a:rPr>
                        <a:t>Passa/recebe turno do próprio setor; se estiver no turno Manhã, marca S/Q do quadro do próprio setor.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26313D"/>
                          </a:solidFill>
                        </a:rPr>
                        <a:t>Só vê e opera o próprio setor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26313D"/>
                          </a:solidFill>
                        </a:rPr>
                        <a:t>Gestor</a:t>
                      </a:r>
                    </a:p>
                  </a:txBody>
                  <a:tcPr marT="38100" marB="38100" marL="76200" marR="76200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26313D"/>
                          </a:solidFill>
                        </a:rPr>
                        <a:t>Acompanha o quadro SQDC de qualquer setor na reunião diária; acessa relatórios consolidados.</a:t>
                      </a:r>
                    </a:p>
                  </a:txBody>
                  <a:tcPr marT="38100" marB="38100" marL="76200" marR="76200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26313D"/>
                          </a:solidFill>
                        </a:rPr>
                        <a:t>Pode corrigir qualquer dia/setor</a:t>
                      </a:r>
                    </a:p>
                  </a:txBody>
                  <a:tcPr marT="38100" marB="38100" marL="76200" marR="76200">
                    <a:solidFill>
                      <a:srgbClr val="EAF2F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26313D"/>
                          </a:solidFill>
                        </a:rPr>
                        <a:t>Administrador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26313D"/>
                          </a:solidFill>
                        </a:rPr>
                        <a:t>Gerencia usuários (papel, setor, turno, senha); mesmos acessos do gestor.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26313D"/>
                          </a:solidFill>
                        </a:rPr>
                        <a:t>Único perfil com Administração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8920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2E4F"/>
                </a:solidFill>
                <a:latin typeface="Calibri"/>
              </a:rPr>
              <a:t>Reunião diária de SFM: segunda a sexta, às 07:40, conduzida pelo gestor, que acompanha o quadro SQDC de cada setor sem precisar editar nada.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752C"/>
                </a:solidFill>
                <a:latin typeface="Calibri"/>
              </a:rPr>
              <a:t>REGRAS DE NEGÓCIO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Regras essenciais do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A89"/>
                </a:solidFill>
                <a:latin typeface="Calibri"/>
              </a:rPr>
              <a:t>SFM — Shop Floor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A89"/>
                </a:solidFill>
                <a:latin typeface="Calibri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417320"/>
          <a:ext cx="1069847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829"/>
                <a:gridCol w="9498650"/>
              </a:tblGrid>
              <a:tr h="679268"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T="50800" marB="50800" marL="76200" marR="76200">
                    <a:solidFill>
                      <a:srgbClr val="0B5CA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>
                          <a:solidFill>
                            <a:srgbClr val="FFFFFF"/>
                          </a:solidFill>
                        </a:rPr>
                        <a:t>Regra</a:t>
                      </a:r>
                    </a:p>
                  </a:txBody>
                  <a:tcPr marT="50800" marB="50800" marL="76200" marR="76200">
                    <a:solidFill>
                      <a:srgbClr val="0B5CAB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313D"/>
                          </a:solidFill>
                        </a:rPr>
                        <a:t>RN-01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313D"/>
                          </a:solidFill>
                        </a:rPr>
                        <a:t>Uma parada = um registro só, que muda de status ao longo do tempo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313D"/>
                          </a:solidFill>
                        </a:rPr>
                        <a:t>RN-04</a:t>
                      </a:r>
                    </a:p>
                  </a:txBody>
                  <a:tcPr marT="38100" marB="38100" marL="76200" marR="76200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313D"/>
                          </a:solidFill>
                        </a:rPr>
                        <a:t>Atendida/Não atendida sempre calculada pelo Status sistema do SAP</a:t>
                      </a:r>
                    </a:p>
                  </a:txBody>
                  <a:tcPr marT="38100" marB="38100" marL="76200" marR="76200">
                    <a:solidFill>
                      <a:srgbClr val="EAF2FB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313D"/>
                          </a:solidFill>
                        </a:rPr>
                        <a:t>RN-05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313D"/>
                          </a:solidFill>
                        </a:rPr>
                        <a:t>Importar planilha nunca duplica nota — atualiza a que já existe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313D"/>
                          </a:solidFill>
                        </a:rPr>
                        <a:t>RN-06</a:t>
                      </a:r>
                    </a:p>
                  </a:txBody>
                  <a:tcPr marT="38100" marB="38100" marL="76200" marR="76200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313D"/>
                          </a:solidFill>
                        </a:rPr>
                        <a:t>Qualquer operador do turno Manhã pode marcar S/Q do próprio setor</a:t>
                      </a:r>
                    </a:p>
                  </a:txBody>
                  <a:tcPr marT="38100" marB="38100" marL="76200" marR="76200">
                    <a:solidFill>
                      <a:srgbClr val="EAF2FB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313D"/>
                          </a:solidFill>
                        </a:rPr>
                        <a:t>RN-07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313D"/>
                          </a:solidFill>
                        </a:rPr>
                        <a:t>S/Q só pode ser marcado nos dias que a janela da SFM cobre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313D"/>
                          </a:solidFill>
                        </a:rPr>
                        <a:t>RN-08</a:t>
                      </a:r>
                    </a:p>
                  </a:txBody>
                  <a:tcPr marT="38100" marB="38100" marL="76200" marR="76200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313D"/>
                          </a:solidFill>
                        </a:rPr>
                        <a:t>Janelas obrigatórias de 40 min redirecionam o operador automaticamente</a:t>
                      </a:r>
                    </a:p>
                  </a:txBody>
                  <a:tcPr marT="38100" marB="38100" marL="76200" marR="76200">
                    <a:solidFill>
                      <a:srgbClr val="EA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752C"/>
                </a:solidFill>
                <a:latin typeface="Calibri"/>
              </a:rPr>
              <a:t>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Modelo de dados (resumo)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A89"/>
                </a:solidFill>
                <a:latin typeface="Calibri"/>
              </a:rPr>
              <a:t>SFM — Shop Floor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A89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6313D"/>
                </a:solidFill>
                <a:latin typeface="Calibri"/>
              </a:rPr>
              <a:t>Sem banco relacional: cada arquivo .json é uma coleção de registros, com um espelho .js regenerado a cada gravação.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201168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  <a:gridCol w="502920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</a:rPr>
                        <a:t>Arquivo</a:t>
                      </a:r>
                    </a:p>
                  </a:txBody>
                  <a:tcPr marT="50800" marB="50800" marL="76200" marR="76200">
                    <a:solidFill>
                      <a:srgbClr val="0B5CA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</a:rPr>
                        <a:t>Coleções</a:t>
                      </a:r>
                    </a:p>
                  </a:txBody>
                  <a:tcPr marT="50800" marB="50800" marL="76200" marR="76200">
                    <a:solidFill>
                      <a:srgbClr val="0B5CA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</a:rPr>
                        <a:t>Conteúdo</a:t>
                      </a:r>
                    </a:p>
                  </a:txBody>
                  <a:tcPr marT="50800" marB="50800" marL="76200" marR="76200">
                    <a:solidFill>
                      <a:srgbClr val="0B5CA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bd/dados.json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usuarios, passagensTurno,</a:t>
                      </a:r>
                    </a:p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eventosPassagem, confirmacoesTurno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Usuários, estado das paradas, histórico de passagens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bd/notas.json</a:t>
                      </a:r>
                    </a:p>
                  </a:txBody>
                  <a:tcPr marT="38100" marB="38100" marL="76200" marR="76200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lista de notas do SAP</a:t>
                      </a:r>
                    </a:p>
                  </a:txBody>
                  <a:tcPr marT="38100" marB="38100" marL="76200" marR="76200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Uma linha por número de Nota, atualizada a cada importação</a:t>
                      </a:r>
                    </a:p>
                  </a:txBody>
                  <a:tcPr marT="38100" marB="38100" marL="76200" marR="76200">
                    <a:solidFill>
                      <a:srgbClr val="EAF2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bd/quadro.json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registros por setor + dia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Marcações manuais de Segurança e Qualidade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6634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A89"/>
                </a:solidFill>
                <a:latin typeface="Calibri"/>
              </a:rPr>
              <a:t>Cada entidade principal tem identificador interno automático (ex.: passagensTurno usa "pt-" + uuid), e campos de auditoria mínima como registradoPor/recebidoPor e datas — mas não há criptografia nem trilha de auditoria de leitura.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752C"/>
                </a:solidFill>
                <a:latin typeface="Calibri"/>
              </a:rPr>
              <a:t>SEGURANÇA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Segurança e limitações conhecidas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A89"/>
                </a:solidFill>
                <a:latin typeface="Calibri"/>
              </a:rPr>
              <a:t>SFM — Shop Floor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A89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B5CAB"/>
                </a:solidFill>
                <a:latin typeface="Calibri"/>
              </a:rPr>
              <a:t>Existe hoje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>
                <a:solidFill>
                  <a:srgbClr val="26313D"/>
                </a:solidFill>
                <a:latin typeface="Calibri"/>
              </a:rPr>
              <a:t>•  Senha com hash PBKDF2 + salt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>
                <a:solidFill>
                  <a:srgbClr val="26313D"/>
                </a:solidFill>
                <a:latin typeface="Calibri"/>
              </a:rPr>
              <a:t>•  Acesso por papel e por setor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>
                <a:solidFill>
                  <a:srgbClr val="26313D"/>
                </a:solidFill>
                <a:latin typeface="Calibri"/>
              </a:rPr>
              <a:t>•  Registro de quem passou/recebeu cada ordem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>
                <a:solidFill>
                  <a:srgbClr val="26313D"/>
                </a:solidFill>
                <a:latin typeface="Calibri"/>
              </a:rPr>
              <a:t>•  Aviso de conflito de gravação concorrente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8752C"/>
                </a:solidFill>
                <a:latin typeface="Calibri"/>
              </a:rPr>
              <a:t>Limitação aceita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>
                <a:solidFill>
                  <a:srgbClr val="26313D"/>
                </a:solidFill>
                <a:latin typeface="Calibri"/>
              </a:rPr>
              <a:t>!  Não é segurança de verdade — dados legíveis por quem acessa a pasta de rede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>
                <a:solidFill>
                  <a:srgbClr val="26313D"/>
                </a:solidFill>
                <a:latin typeface="Calibri"/>
              </a:rPr>
              <a:t>!  Sem criptografia em repouso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>
                <a:solidFill>
                  <a:srgbClr val="26313D"/>
                </a:solidFill>
                <a:latin typeface="Calibri"/>
              </a:rPr>
              <a:t>!  Sem trilha de auditoria de leitura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>
                <a:solidFill>
                  <a:srgbClr val="26313D"/>
                </a:solidFill>
                <a:latin typeface="Calibri"/>
              </a:rPr>
              <a:t>!  Sem autenticação multifator ou expiração de sessão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870448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B2E4F"/>
                </a:solidFill>
                <a:latin typeface="Calibri"/>
              </a:rPr>
              <a:t>Recomendação: não guardar dados sensíveis no sistema e trocar as senhas de teste antes do uso real.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752C"/>
                </a:solidFill>
                <a:latin typeface="Calibri"/>
              </a:rPr>
              <a:t>RISCOS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Riscos e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A89"/>
                </a:solidFill>
                <a:latin typeface="Calibri"/>
              </a:rPr>
              <a:t>SFM — Shop Floor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A89"/>
                </a:solidFill>
                <a:latin typeface="Calibri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417320"/>
          <a:ext cx="1069847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799"/>
                <a:gridCol w="1645919"/>
                <a:gridCol w="493776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</a:rPr>
                        <a:t>Risco</a:t>
                      </a:r>
                    </a:p>
                  </a:txBody>
                  <a:tcPr marT="50800" marB="50800" marL="76200" marR="76200">
                    <a:solidFill>
                      <a:srgbClr val="0B5CA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</a:rPr>
                        <a:t>Impacto</a:t>
                      </a:r>
                    </a:p>
                  </a:txBody>
                  <a:tcPr marT="50800" marB="50800" marL="76200" marR="76200">
                    <a:solidFill>
                      <a:srgbClr val="0B5CA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</a:rPr>
                        <a:t>Mitigação</a:t>
                      </a:r>
                    </a:p>
                  </a:txBody>
                  <a:tcPr marT="50800" marB="50800" marL="76200" marR="76200">
                    <a:solidFill>
                      <a:srgbClr val="0B5CA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Sem servidor/backup central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Alto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Backup regular da pasta de rede pela TI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Conflito de gravação simultânea</a:t>
                      </a:r>
                    </a:p>
                  </a:txBody>
                  <a:tcPr marT="38100" marB="38100" marL="76200" marR="76200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Médio</a:t>
                      </a:r>
                    </a:p>
                  </a:txBody>
                  <a:tcPr marT="38100" marB="38100" marL="76200" marR="76200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Detecção já existe; resolução é manual</a:t>
                      </a:r>
                    </a:p>
                  </a:txBody>
                  <a:tcPr marT="38100" marB="38100" marL="76200" marR="76200">
                    <a:solidFill>
                      <a:srgbClr val="EAF2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Coluna de data ausente na planilha SAP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Alto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Diagnóstico de cabeçalhos na importação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Relógio do computador incorreto</a:t>
                      </a:r>
                    </a:p>
                  </a:txBody>
                  <a:tcPr marT="38100" marB="38100" marL="76200" marR="76200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Médio</a:t>
                      </a:r>
                    </a:p>
                  </a:txBody>
                  <a:tcPr marT="38100" marB="38100" marL="76200" marR="76200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6313D"/>
                          </a:solidFill>
                        </a:rPr>
                        <a:t>Sincronização automática de hora (NTP)</a:t>
                      </a:r>
                    </a:p>
                  </a:txBody>
                  <a:tcPr marT="38100" marB="38100" marL="76200" marR="76200">
                    <a:solidFill>
                      <a:srgbClr val="EA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752C"/>
                </a:solidFill>
                <a:latin typeface="Calibri"/>
              </a:rP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Roadmap sugerido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A89"/>
                </a:solidFill>
                <a:latin typeface="Calibri"/>
              </a:rPr>
              <a:t>SFM — Shop Floor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A89"/>
                </a:solidFill>
                <a:latin typeface="Calibr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1965960" cy="1005840"/>
          </a:xfrm>
          <a:prstGeom prst="rect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1874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Consolidação
(atual)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9202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6B7A89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645920"/>
            <a:ext cx="1965960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755648"/>
            <a:ext cx="1874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Qualidade
de dados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9202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6B7A89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645920"/>
            <a:ext cx="1965960" cy="1005840"/>
          </a:xfrm>
          <a:prstGeom prst="rect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755648"/>
            <a:ext cx="1874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Fonte automática
de S/Q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9202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6B7A89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1645920"/>
            <a:ext cx="1965960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755648"/>
            <a:ext cx="1874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Robustez
operacional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19202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6B7A89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18320" y="1645920"/>
            <a:ext cx="1965960" cy="1005840"/>
          </a:xfrm>
          <a:prstGeom prst="rect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1755648"/>
            <a:ext cx="1874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Limpeza
técnica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10896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6313D"/>
                </a:solidFill>
                <a:latin typeface="Calibri"/>
              </a:rPr>
              <a:t>•  Documentar e treinar novos usuários; trocar senhas de teste antes de expandir o uso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6313D"/>
                </a:solidFill>
                <a:latin typeface="Calibri"/>
              </a:rPr>
              <a:t>•  Ampliar diagnóstico de importação da planilha do SAP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6313D"/>
                </a:solidFill>
                <a:latin typeface="Calibri"/>
              </a:rPr>
              <a:t>•  Avaliar fonte automática para Segurança e Qualidade (S/Q), hoje 100% manual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6313D"/>
                </a:solidFill>
                <a:latin typeface="Calibri"/>
              </a:rPr>
              <a:t>•  Rotina de backup automática da pasta bd/ e melhorar tratamento de conflito de gravação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6313D"/>
                </a:solidFill>
                <a:latin typeface="Calibri"/>
              </a:rPr>
              <a:t>•  Revisar campos legados (responsavelSfm, eficiencia) para reduzir dívida técnica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50800"/>
          </a:xfrm>
          <a:prstGeom prst="rect">
            <a:avLst/>
          </a:prstGeom>
          <a:solidFill>
            <a:srgbClr val="E8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Obrigado.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C9D8E8"/>
                </a:solidFill>
                <a:latin typeface="Calibri"/>
              </a:rPr>
              <a:t>Dúvidas e sugestões: equipe do projeto SFM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